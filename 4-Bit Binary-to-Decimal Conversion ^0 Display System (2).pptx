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m5784521@hotmail.com" userId="f563db6fe7db2d5d" providerId="LiveId" clId="{13C63BC2-B554-43C3-9AC8-C9874E49568D}"/>
    <pc:docChg chg="undo custSel modSld">
      <pc:chgData name="gm5784521@hotmail.com" userId="f563db6fe7db2d5d" providerId="LiveId" clId="{13C63BC2-B554-43C3-9AC8-C9874E49568D}" dt="2026-08-29T08:42:57.958" v="59" actId="14100"/>
      <pc:docMkLst>
        <pc:docMk/>
      </pc:docMkLst>
      <pc:sldChg chg="addSp delSp modSp mod">
        <pc:chgData name="gm5784521@hotmail.com" userId="f563db6fe7db2d5d" providerId="LiveId" clId="{13C63BC2-B554-43C3-9AC8-C9874E49568D}" dt="2026-08-29T07:09:45.795" v="52" actId="14100"/>
        <pc:sldMkLst>
          <pc:docMk/>
          <pc:sldMk cId="0" sldId="261"/>
        </pc:sldMkLst>
        <pc:picChg chg="mod">
          <ac:chgData name="gm5784521@hotmail.com" userId="f563db6fe7db2d5d" providerId="LiveId" clId="{13C63BC2-B554-43C3-9AC8-C9874E49568D}" dt="2026-08-29T07:09:34.146" v="51" actId="1076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gm5784521@hotmail.com" userId="f563db6fe7db2d5d" providerId="LiveId" clId="{13C63BC2-B554-43C3-9AC8-C9874E49568D}" dt="2026-08-29T07:08:10.225" v="44" actId="1076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gm5784521@hotmail.com" userId="f563db6fe7db2d5d" providerId="LiveId" clId="{13C63BC2-B554-43C3-9AC8-C9874E49568D}" dt="2026-08-29T07:09:45.795" v="52" actId="14100"/>
          <ac:picMkLst>
            <pc:docMk/>
            <pc:sldMk cId="0" sldId="261"/>
            <ac:picMk id="12" creationId="{F56577A5-58BF-374B-EFFE-FF107DD75793}"/>
          </ac:picMkLst>
        </pc:picChg>
        <pc:picChg chg="add del mod">
          <ac:chgData name="gm5784521@hotmail.com" userId="f563db6fe7db2d5d" providerId="LiveId" clId="{13C63BC2-B554-43C3-9AC8-C9874E49568D}" dt="2026-08-29T07:08:03.473" v="43" actId="478"/>
          <ac:picMkLst>
            <pc:docMk/>
            <pc:sldMk cId="0" sldId="261"/>
            <ac:picMk id="13" creationId="{736E4598-DF1A-F509-92ED-0D87F093D9DA}"/>
          </ac:picMkLst>
        </pc:picChg>
      </pc:sldChg>
      <pc:sldChg chg="addSp delSp mod">
        <pc:chgData name="gm5784521@hotmail.com" userId="f563db6fe7db2d5d" providerId="LiveId" clId="{13C63BC2-B554-43C3-9AC8-C9874E49568D}" dt="2026-08-27T00:19:42.113" v="24" actId="21"/>
        <pc:sldMkLst>
          <pc:docMk/>
          <pc:sldMk cId="0" sldId="262"/>
        </pc:sldMkLst>
        <pc:picChg chg="add del">
          <ac:chgData name="gm5784521@hotmail.com" userId="f563db6fe7db2d5d" providerId="LiveId" clId="{13C63BC2-B554-43C3-9AC8-C9874E49568D}" dt="2026-08-27T00:19:42.113" v="24" actId="21"/>
          <ac:picMkLst>
            <pc:docMk/>
            <pc:sldMk cId="0" sldId="262"/>
            <ac:picMk id="2" creationId="{00000000-0000-0000-0000-000000000000}"/>
          </ac:picMkLst>
        </pc:picChg>
      </pc:sldChg>
      <pc:sldChg chg="addSp delSp modSp mod">
        <pc:chgData name="gm5784521@hotmail.com" userId="f563db6fe7db2d5d" providerId="LiveId" clId="{13C63BC2-B554-43C3-9AC8-C9874E49568D}" dt="2026-08-29T08:42:57.958" v="59" actId="14100"/>
        <pc:sldMkLst>
          <pc:docMk/>
          <pc:sldMk cId="0" sldId="263"/>
        </pc:sldMkLst>
        <pc:picChg chg="add del mod">
          <ac:chgData name="gm5784521@hotmail.com" userId="f563db6fe7db2d5d" providerId="LiveId" clId="{13C63BC2-B554-43C3-9AC8-C9874E49568D}" dt="2026-08-29T07:10:21.034" v="53" actId="478"/>
          <ac:picMkLst>
            <pc:docMk/>
            <pc:sldMk cId="0" sldId="263"/>
            <ac:picMk id="11" creationId="{841F776B-C6AD-9B28-6954-027E3BCCC429}"/>
          </ac:picMkLst>
        </pc:picChg>
        <pc:picChg chg="add mod">
          <ac:chgData name="gm5784521@hotmail.com" userId="f563db6fe7db2d5d" providerId="LiveId" clId="{13C63BC2-B554-43C3-9AC8-C9874E49568D}" dt="2026-08-29T08:42:57.958" v="59" actId="14100"/>
          <ac:picMkLst>
            <pc:docMk/>
            <pc:sldMk cId="0" sldId="263"/>
            <ac:picMk id="12" creationId="{0202D750-25BC-6CAF-0123-616B3A7918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BF4AA-9712-4F02-9653-2B8922A131A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A8C1F-8DEA-4A12-B179-4C58BAAB3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3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A8C1F-8DEA-4A12-B179-4C58BAAB3BA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12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19250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912739"/>
            <a:ext cx="20574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379464"/>
            <a:ext cx="5590698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 dirty="0">
                <a:solidFill>
                  <a:srgbClr val="FFFFFF"/>
                </a:solidFill>
                <a:latin typeface="Space Grotesk"/>
              </a:rPr>
              <a:t>4-Bit Binary-to-Decimal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743325"/>
            <a:ext cx="53244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&amp; Display System Using Logic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343400"/>
            <a:ext cx="5324475" cy="2172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94A3B8"/>
                </a:solidFill>
                <a:latin typeface="Inter"/>
              </a:rPr>
              <a:t>A complete hardware synthesis converting 4-bit binary inputs (0000–1111) to decimal outputs (0–15) driven on a 7-segment display.</a:t>
            </a:r>
            <a:endParaRPr lang="en-US" sz="1200" b="0" i="0" u="none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endParaRPr lang="en-US" sz="1200" b="1" dirty="0">
              <a:solidFill>
                <a:srgbClr val="FF000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1" dirty="0">
                <a:solidFill>
                  <a:srgbClr val="FF0000"/>
                </a:solidFill>
                <a:latin typeface="Inter"/>
              </a:rPr>
              <a:t>     </a:t>
            </a:r>
            <a:r>
              <a:rPr lang="en-US" sz="1200" b="1" dirty="0">
                <a:solidFill>
                  <a:schemeClr val="accent2"/>
                </a:solidFill>
                <a:latin typeface="Inter"/>
              </a:rPr>
              <a:t>PRESENTED BY:</a:t>
            </a:r>
            <a:endParaRPr lang="en-US" sz="1200" b="1" dirty="0">
              <a:solidFill>
                <a:srgbClr val="FF000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endParaRPr lang="en-US" sz="1200" b="1" i="1" u="none" dirty="0">
              <a:solidFill>
                <a:srgbClr val="00206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1" dirty="0">
                <a:solidFill>
                  <a:srgbClr val="FFFF00"/>
                </a:solidFill>
                <a:latin typeface="Inter"/>
              </a:rPr>
              <a:t>    Charan </a:t>
            </a:r>
            <a:r>
              <a:rPr lang="en-US" sz="1200" b="1" dirty="0">
                <a:solidFill>
                  <a:srgbClr val="FF0000"/>
                </a:solidFill>
                <a:latin typeface="Inter"/>
              </a:rPr>
              <a:t>(Roll Number :   2620030058)</a:t>
            </a:r>
            <a:endParaRPr lang="en-US" sz="1200" b="1" dirty="0">
              <a:solidFill>
                <a:srgbClr val="FFFF0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1" i="0" u="none" dirty="0">
                <a:solidFill>
                  <a:srgbClr val="FFFF00"/>
                </a:solidFill>
                <a:latin typeface="Inter"/>
              </a:rPr>
              <a:t>    Shashank </a:t>
            </a:r>
            <a:r>
              <a:rPr lang="en-US" sz="1200" b="1" i="0" u="none" dirty="0">
                <a:solidFill>
                  <a:srgbClr val="FF0000"/>
                </a:solidFill>
                <a:latin typeface="Inter"/>
              </a:rPr>
              <a:t>(Roll Number:  2620030057)</a:t>
            </a:r>
            <a:endParaRPr lang="en-US" sz="1200" b="1" i="0" u="none" dirty="0">
              <a:solidFill>
                <a:srgbClr val="FFFF0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1" i="0" u="none" dirty="0">
                <a:solidFill>
                  <a:srgbClr val="FFFF00"/>
                </a:solidFill>
                <a:latin typeface="Inter"/>
              </a:rPr>
              <a:t>     </a:t>
            </a:r>
            <a:r>
              <a:rPr lang="en-US" sz="1200" b="1" dirty="0">
                <a:solidFill>
                  <a:srgbClr val="FFFF00"/>
                </a:solidFill>
                <a:latin typeface="Inter"/>
              </a:rPr>
              <a:t>Harini </a:t>
            </a:r>
            <a:r>
              <a:rPr lang="en-US" sz="1200" b="1" dirty="0">
                <a:solidFill>
                  <a:srgbClr val="FF0000"/>
                </a:solidFill>
                <a:latin typeface="Inter"/>
              </a:rPr>
              <a:t>(Roll Number:  2620030050)</a:t>
            </a:r>
            <a:endParaRPr lang="en-US" sz="1200" b="1" dirty="0">
              <a:solidFill>
                <a:srgbClr val="FFFF00"/>
              </a:solidFill>
              <a:latin typeface="Inter"/>
            </a:endParaRPr>
          </a:p>
          <a:p>
            <a:pPr algn="l">
              <a:lnSpc>
                <a:spcPts val="1920"/>
              </a:lnSpc>
            </a:pPr>
            <a:r>
              <a:rPr lang="en-US" sz="1200" b="1" i="0" u="none" dirty="0">
                <a:solidFill>
                  <a:srgbClr val="FFFF00"/>
                </a:solidFill>
                <a:latin typeface="Inter"/>
              </a:rPr>
              <a:t>     Meghana </a:t>
            </a:r>
            <a:r>
              <a:rPr lang="en-US" sz="1200" b="1" i="0" u="none" dirty="0">
                <a:solidFill>
                  <a:srgbClr val="FF0000"/>
                </a:solidFill>
                <a:latin typeface="Inter"/>
              </a:rPr>
              <a:t>(Roll Number:  2620030053)</a:t>
            </a:r>
            <a:endParaRPr sz="1200" b="1" i="0" u="none" dirty="0">
              <a:solidFill>
                <a:srgbClr val="FFFF00"/>
              </a:solidFill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1998464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628775"/>
            <a:ext cx="530542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9269"/>
            <a:ext cx="5324475" cy="27716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28725"/>
            <a:ext cx="5324475" cy="29127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27190"/>
            <a:ext cx="2586037" cy="32307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662" y="4427190"/>
            <a:ext cx="2586037" cy="32307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4427190"/>
            <a:ext cx="2586037" cy="3230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4937" y="4427190"/>
            <a:ext cx="2586037" cy="3230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8637" y="1952625"/>
            <a:ext cx="1600200" cy="1419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1081" y="485775"/>
            <a:ext cx="111088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System Objective &amp; Applications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561975"/>
            <a:ext cx="29765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9150" y="1537394"/>
            <a:ext cx="5090636" cy="295275"/>
          </a:xfrm>
          <a:prstGeom prst="rect">
            <a:avLst/>
          </a:prstGeom>
          <a:noFill/>
        </p:spPr>
        <p:txBody>
          <a:bodyPr wrap="square" lIns="22413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Core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3419" y="1466850"/>
            <a:ext cx="509063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Current State Output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550" y="6033045"/>
            <a:ext cx="2566987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4722465"/>
            <a:ext cx="533400" cy="533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6300" y="5446365"/>
            <a:ext cx="209526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Digital 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855940"/>
            <a:ext cx="199548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Real-time measurement readout units in voltage and current meters.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5187" y="6033045"/>
            <a:ext cx="2566987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0937" y="4722465"/>
            <a:ext cx="533400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90937" y="5446365"/>
            <a:ext cx="209526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Counters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0937" y="5855940"/>
            <a:ext cx="1995487" cy="1002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Sequential event counters for industry timing and frequency modules.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9825" y="6033045"/>
            <a:ext cx="2566987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5575" y="4722465"/>
            <a:ext cx="533400" cy="533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05575" y="5446365"/>
            <a:ext cx="2095261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Embedded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6151215"/>
            <a:ext cx="1995487" cy="706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Low-cost visual status displays in microcontroller projects.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462" y="6033045"/>
            <a:ext cx="2566987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0212" y="4722465"/>
            <a:ext cx="533400" cy="533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320212" y="5446365"/>
            <a:ext cx="209526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Calculators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0212" y="5855940"/>
            <a:ext cx="1995487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Arithmetic processing output stages in digital calculation units.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9150" y="1565969"/>
            <a:ext cx="224135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62050" y="1946969"/>
            <a:ext cx="45053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Accept a 4-bit binary input combination (0000 to 1111).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50" y="2392709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Convert the input binary value into its decimal equivalent (0 to 15).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2050" y="3112740"/>
            <a:ext cx="4505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Drive and display the decimal number dynamically on a 7-segment display module.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625" y="3514725"/>
            <a:ext cx="48482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38BDF8"/>
                </a:solidFill>
                <a:latin typeface="Fira Code"/>
              </a:rPr>
              <a:t>Binary Input: 1010 → Decimal: 10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650" y="4855815"/>
            <a:ext cx="266700" cy="2667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38575" y="4855815"/>
            <a:ext cx="238125" cy="2667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86900" y="4855815"/>
            <a:ext cx="200025" cy="2667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" y="1980307"/>
            <a:ext cx="104775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" y="2426047"/>
            <a:ext cx="104775" cy="1809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" y="3146077"/>
            <a:ext cx="1047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20417"/>
            <a:ext cx="11029950" cy="1396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84970"/>
            <a:ext cx="1847850" cy="10534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550" y="2484090"/>
            <a:ext cx="1847850" cy="8553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075" y="2384077"/>
            <a:ext cx="1847850" cy="10553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2484090"/>
            <a:ext cx="1847850" cy="8553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3125" y="2484090"/>
            <a:ext cx="1847850" cy="855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9181" y="485775"/>
            <a:ext cx="110688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System Architecture &amp; Overview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61975"/>
            <a:ext cx="335756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850" y="2584995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3F4F6"/>
                </a:solidFill>
                <a:latin typeface="Space Grotesk"/>
              </a:rPr>
              <a:t>4-BIT BINARY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42170"/>
            <a:ext cx="1524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A, B, C, D (MSB to LSB)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1275" y="2792610"/>
            <a:ext cx="1428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0375" y="2684115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3F4F6"/>
                </a:solidFill>
                <a:latin typeface="Space Grotesk"/>
              </a:rPr>
              <a:t>BINARY-TO-DECIMAL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8475" y="2941290"/>
            <a:ext cx="15240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Weighted Sum Logic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2792610"/>
            <a:ext cx="14287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95900" y="2584102"/>
            <a:ext cx="1600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3F4F6"/>
                </a:solidFill>
                <a:latin typeface="Space Grotesk"/>
              </a:rPr>
              <a:t>4-BIT DECIMAL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0" y="3041302"/>
            <a:ext cx="15240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0 to 15 Equivalent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2325" y="2792610"/>
            <a:ext cx="14287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91425" y="2684115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3F4F6"/>
                </a:solidFill>
                <a:latin typeface="Space Grotesk"/>
              </a:rPr>
              <a:t>7-SEGMENT DRIVER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9525" y="2941290"/>
            <a:ext cx="15240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BCD Decoder Circuit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7850" y="2792610"/>
            <a:ext cx="14287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886950" y="2684115"/>
            <a:ext cx="1600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3F4F6"/>
                </a:solidFill>
                <a:latin typeface="Space Grotesk"/>
              </a:rPr>
              <a:t>7-SEGMENT DISPLAY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5050" y="2941290"/>
            <a:ext cx="15240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38BDF8"/>
                </a:solidFill>
                <a:latin typeface="Fira Code"/>
              </a:rPr>
              <a:t>Visual Output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4323308"/>
            <a:ext cx="28575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5400" y="4058542"/>
            <a:ext cx="1058132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FFFFF"/>
                </a:solidFill>
                <a:latin typeface="Space Grotesk SemiBold"/>
              </a:rPr>
              <a:t>Key Theoretical 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4391917"/>
            <a:ext cx="100774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4-bit binary number can represent </a:t>
            </a:r>
            <a:r>
              <a:rPr sz="1350" b="1" i="0" u="none">
                <a:solidFill>
                  <a:srgbClr val="38BDF8"/>
                </a:solidFill>
                <a:latin typeface="Inter"/>
              </a:rPr>
              <a:t>24 = 16 distinct values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(0 to 15). These values correspond directly to decimal equivalents, converted through combinational logic gates to power designated segments on the readout display.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51496"/>
            <a:ext cx="5324475" cy="26979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24475" cy="1085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838277"/>
            <a:ext cx="2366962" cy="47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412" y="3838277"/>
            <a:ext cx="2366962" cy="479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431952"/>
            <a:ext cx="2366962" cy="479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412" y="4431952"/>
            <a:ext cx="2366962" cy="479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9181" y="485775"/>
            <a:ext cx="110688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Circuit Design &amp; Weighting Logic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561975"/>
            <a:ext cx="335756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" y="2689621"/>
            <a:ext cx="509063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Bit Weight Allocations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099196"/>
            <a:ext cx="48482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 standard positional binary notation, each bit carries a specific decimal weight: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2512665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Conversion Mathematical Model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3169890"/>
            <a:ext cx="53244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375091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Inputs act as a weighted sum feeding logic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9665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Combinational network resolves binary values 0–15.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64239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Output drives segment activation patterns on display.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3993802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Fira Code"/>
              </a:rPr>
              <a:t>A (MSB)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4237" y="3993802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A855F7"/>
                </a:solidFill>
                <a:latin typeface="Fira Code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" y="4587478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4D399"/>
                </a:solidFill>
                <a:latin typeface="Fira Code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7" y="4587478"/>
            <a:ext cx="666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3F5E"/>
                </a:solidFill>
                <a:latin typeface="Fira Code"/>
              </a:rPr>
              <a:t>D (LSB)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3784252"/>
            <a:ext cx="152400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4229992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4675733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93815"/>
            <a:ext cx="5324475" cy="12820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2981" y="485775"/>
            <a:ext cx="1114889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7-Segment Display (Common Cathode)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61975"/>
            <a:ext cx="259556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86500" y="2225129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Space Grotesk SemiBold"/>
              </a:rPr>
              <a:t>Control Mechanism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512" y="2522190"/>
            <a:ext cx="1333500" cy="2095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800" y="4751040"/>
            <a:ext cx="43529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Fira Code"/>
              </a:rPr>
              <a:t>Segments: a, b, c, d, e, f,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34704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Each individual segment (a–g) is selectively toggled high by the logic gate matrix based on the input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354734"/>
            <a:ext cx="49815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Common cathode topology connects segment cathodes to ground (0V), activating segments when logic 1 is applied.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331940"/>
            <a:ext cx="506063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Space Grotesk"/>
              </a:rPr>
              <a:t>Conversion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589115"/>
            <a:ext cx="48196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Fira Code"/>
              </a:rPr>
              <a:t>Binary: </a:t>
            </a:r>
            <a:r>
              <a:rPr sz="1350" b="0" i="0" u="none">
                <a:solidFill>
                  <a:srgbClr val="38BDF8"/>
                </a:solidFill>
                <a:latin typeface="Fira Code"/>
              </a:rPr>
              <a:t>1010</a:t>
            </a:r>
            <a:r>
              <a:rPr sz="1350" b="0" i="0" u="none">
                <a:solidFill>
                  <a:srgbClr val="F8FAFC"/>
                </a:solidFill>
                <a:latin typeface="Fira Code"/>
              </a:rPr>
              <a:t> → Decimal: </a:t>
            </a:r>
            <a:r>
              <a:rPr sz="1350" b="0" i="0" u="none">
                <a:solidFill>
                  <a:srgbClr val="34D399"/>
                </a:solidFill>
                <a:latin typeface="Fira Code"/>
              </a:rPr>
              <a:t>10</a:t>
            </a:r>
            <a:r>
              <a:rPr sz="1350" b="0" i="0" u="none">
                <a:solidFill>
                  <a:srgbClr val="F8FAFC"/>
                </a:solidFill>
                <a:latin typeface="Fira Code"/>
              </a:rPr>
              <a:t> → Segment Activation → Display </a:t>
            </a:r>
            <a:r>
              <a:rPr sz="1350" b="0" i="0" u="none">
                <a:solidFill>
                  <a:srgbClr val="EF4444"/>
                </a:solidFill>
                <a:latin typeface="Fira Code"/>
              </a:rPr>
              <a:t>"10"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668041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388072"/>
            <a:ext cx="1905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7150"/>
            <a:ext cx="12198299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11" y="1562100"/>
            <a:ext cx="110299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376862"/>
            <a:ext cx="11029950" cy="61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150" y="5538787"/>
            <a:ext cx="255270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7281" y="485775"/>
            <a:ext cx="1102887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Circuit Construction in Logisim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1975"/>
            <a:ext cx="373856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614487"/>
            <a:ext cx="38862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475" y="5572125"/>
            <a:ext cx="64103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SemiBold"/>
              </a:rPr>
              <a:t>Verification Result:</a:t>
            </a:r>
            <a:r>
              <a:rPr sz="1200" b="0" i="0" u="none">
                <a:solidFill>
                  <a:srgbClr val="F3F4F6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Fully validated logic gate schematic for binary-to-decimal decoding.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5572125"/>
            <a:ext cx="200025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577A5-58BF-374B-EFFE-FF107DD757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299" y="1268361"/>
            <a:ext cx="115297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05025"/>
            <a:ext cx="5419725" cy="14629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05025"/>
            <a:ext cx="5419725" cy="14629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758505"/>
            <a:ext cx="5419725" cy="17372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758505"/>
            <a:ext cx="5419725" cy="1737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1081" y="485775"/>
            <a:ext cx="111088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FFFFFF"/>
                </a:solidFill>
                <a:latin typeface="Space Grotesk"/>
              </a:rPr>
              <a:t>4 Key Takeaways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61975"/>
            <a:ext cx="297656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4504" y="2343150"/>
            <a:ext cx="496452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Positional Binary 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67000"/>
            <a:ext cx="49149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94A3B8"/>
                </a:solidFill>
                <a:latin typeface="Inter"/>
              </a:rPr>
              <a:t>Digital conversion relies on bit weights (8-4-2-1), summing binary values directly into decimal representations (0–15).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3304" y="2343150"/>
            <a:ext cx="4934522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Combinational Gate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950" y="2667000"/>
            <a:ext cx="49149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AND, OR, and NOT logic gate networks seamlessly map 4-bit binary states into corresponding segment drive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079" y="3996630"/>
            <a:ext cx="4934522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7-Segment Display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20480"/>
            <a:ext cx="49149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Common cathode 7-segment display drivers transform logical high/low outputs into intuitive visual human-readable numbers.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2354" y="3996630"/>
            <a:ext cx="491452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Space Grotesk SemiBold"/>
              </a:rPr>
              <a:t>Complete Hardware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4320480"/>
            <a:ext cx="49149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Logisim schematic simulation confirms 100% accuracy across all 16 input combinations from 0000 (0) to 1111 (15).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371725"/>
            <a:ext cx="91529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950" y="2371725"/>
            <a:ext cx="120104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025205"/>
            <a:ext cx="120104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7950" y="4025205"/>
            <a:ext cx="139154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5" y="2083147"/>
            <a:ext cx="21145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61273" y="994620"/>
            <a:ext cx="6220777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FFFFFF"/>
                </a:solidFill>
                <a:latin typeface="Space Grotesk"/>
              </a:rPr>
              <a:t>Thank You!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2168872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950" y="4422278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14750" y="4422278"/>
            <a:ext cx="2057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3F4F6"/>
                </a:solidFill>
                <a:latin typeface="Fira Code"/>
              </a:rPr>
              <a:t>Digital Logic Design Lab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350" y="4422278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96100" y="4422278"/>
            <a:ext cx="1885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3F4F6"/>
                </a:solidFill>
                <a:latin typeface="Fira Code"/>
              </a:rPr>
              <a:t>Logisim Implementation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02D750-25BC-6CAF-0123-616B3A791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2761" y="1748879"/>
            <a:ext cx="7010399" cy="4681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>
                <a:solidFill>
                  <a:srgbClr val="FFFFFF"/>
                </a:solidFill>
                <a:latin typeface="Space Grotesk"/>
              </a:rPr>
              <a:t>Image Sources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62350"/>
            <a:ext cx="857250" cy="47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76400" y="3456682"/>
            <a:ext cx="99345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94A3B8"/>
                </a:solidFill>
                <a:latin typeface="Inter"/>
              </a:rPr>
              <a:t>https://png.pngtree.com/thumb_back/fw800/background/20260126/pngtree-futuristic-digital-circuit-board-with-glowing-neon-light-and-data-visualization-image_21025310.webp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400" y="3900487"/>
            <a:ext cx="993457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538</Words>
  <Application>Microsoft Office PowerPoint</Application>
  <PresentationFormat>Widescreen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Arial</vt:lpstr>
      <vt:lpstr>Calibri</vt:lpstr>
      <vt:lpstr>Fira Code</vt:lpstr>
      <vt:lpstr>Inter</vt:lpstr>
      <vt:lpstr>Inter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MEGHANA G</dc:creator>
  <cp:keywords/>
  <dc:description>generated using python-pptx</dc:description>
  <cp:lastModifiedBy>gm5784521@hotmail.com</cp:lastModifiedBy>
  <cp:revision>6</cp:revision>
  <dcterms:created xsi:type="dcterms:W3CDTF">2013-01-27T09:14:16Z</dcterms:created>
  <dcterms:modified xsi:type="dcterms:W3CDTF">2026-08-29T08:42:58Z</dcterms:modified>
  <cp:category/>
</cp:coreProperties>
</file>